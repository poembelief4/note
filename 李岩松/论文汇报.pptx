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7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64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0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450"/>
        <p:guide pos="38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9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7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7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9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1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论文汇报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2026.10.9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682490" y="223583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/>
              <a:t>论文内容</a:t>
            </a:r>
            <a:endParaRPr lang="zh-CN" altLang="en-US" sz="4800"/>
          </a:p>
        </p:txBody>
      </p:sp>
      <p:sp>
        <p:nvSpPr>
          <p:cNvPr id="5" name="文本框 4"/>
          <p:cNvSpPr txBox="1"/>
          <p:nvPr/>
        </p:nvSpPr>
        <p:spPr>
          <a:xfrm>
            <a:off x="4682490" y="311721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chemeClr val="bg2"/>
                </a:solidFill>
              </a:rPr>
              <a:t>代码复现</a:t>
            </a:r>
            <a:endParaRPr lang="zh-CN" altLang="en-US" sz="4800">
              <a:solidFill>
                <a:schemeClr val="bg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37080" y="2137410"/>
            <a:ext cx="9906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</a:rPr>
              <a:t>目录</a:t>
            </a:r>
            <a:endParaRPr lang="zh-CN" altLang="en-US" sz="5400">
              <a:ln w="15875"/>
              <a:gradFill>
                <a:gsLst>
                  <a:gs pos="0">
                    <a:schemeClr val="accent1">
                      <a:lumOff val="-19998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8"/>
                    </a:schemeClr>
                  </a:gs>
                </a:gsLst>
                <a:lin ang="0" scaled="0"/>
              </a:grad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模型自由与模型基础的优缺点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657860" y="1559560"/>
          <a:ext cx="10698480" cy="351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295"/>
                <a:gridCol w="5290185"/>
              </a:tblGrid>
              <a:tr h="716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4000"/>
                        <a:t>模型自由</a:t>
                      </a:r>
                      <a:endParaRPr lang="zh-CN" altLang="en-US" sz="4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4000"/>
                        <a:t>模型基础</a:t>
                      </a:r>
                      <a:endParaRPr lang="zh-CN" altLang="en-US" sz="4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不需要显式动力学模型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使用显式动力学模型</a:t>
                      </a:r>
                      <a:endParaRPr lang="zh-CN" altLang="en-US" sz="2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能处理未知、复杂的系统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难以处理复杂的系统</a:t>
                      </a:r>
                      <a:endParaRPr lang="zh-CN" altLang="en-US" sz="2000"/>
                    </a:p>
                  </a:txBody>
                  <a:tcPr/>
                </a:tc>
              </a:tr>
              <a:tr h="716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数据需求高，数据采集所需费用高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数据需求低，数据采集所需费用低</a:t>
                      </a:r>
                      <a:endParaRPr lang="zh-CN" altLang="en-US" sz="2000"/>
                    </a:p>
                    <a:p>
                      <a:pPr algn="ctr">
                        <a:buNone/>
                      </a:pPr>
                      <a:endParaRPr lang="zh-CN" altLang="en-US" sz="2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没有模型偏差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模型不准确时，模型偏差大</a:t>
                      </a:r>
                      <a:endParaRPr lang="zh-CN" altLang="en-US" sz="2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59130" y="5427980"/>
            <a:ext cx="106972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两种模型各有利弊，像是两个极端</a:t>
            </a:r>
            <a:r>
              <a:rPr lang="en-US" altLang="zh-CN" sz="2000"/>
              <a:t>——</a:t>
            </a:r>
            <a:r>
              <a:rPr lang="zh-CN" altLang="en-US" sz="2000"/>
              <a:t>不妨考虑，将二者结合起来：利用便宜的模型基础得到初步解，再利用模型自由调整解和模型基础的某些参数，然后重复求解和调整模型的过程。这样说不定既能保证最终答案的准确性，又能降低费用。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59790" y="1819910"/>
            <a:ext cx="5121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研究对象是非线性的动力系统，表示为：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221480" y="2188210"/>
                <a:ext cx="380111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ℎ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480" y="2188210"/>
                <a:ext cx="3801110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417756" y="2556764"/>
                <a:ext cx="1395095" cy="406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=−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756" y="2556764"/>
                <a:ext cx="1395095" cy="406400"/>
              </a:xfrm>
              <a:prstGeom prst="rect">
                <a:avLst/>
              </a:prstGeom>
              <a:blipFill rotWithShape="1">
                <a:blip r:embed="rId2"/>
                <a:stretch>
                  <a:fillRect l="-41" t="-63" r="4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859790" y="2924810"/>
            <a:ext cx="4672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我们的目标是最小化代价，代价表示为：</a:t>
            </a:r>
            <a:endParaRPr lang="zh-CN" altLang="en-US" sz="2000"/>
          </a:p>
        </p:txBody>
      </p:sp>
      <p:sp>
        <p:nvSpPr>
          <p:cNvPr id="13" name="双括号 12"/>
          <p:cNvSpPr/>
          <p:nvPr/>
        </p:nvSpPr>
        <p:spPr>
          <a:xfrm>
            <a:off x="5294630" y="2251075"/>
            <a:ext cx="1184910" cy="305435"/>
          </a:xfrm>
          <a:prstGeom prst="bracketPair">
            <a:avLst/>
          </a:prstGeom>
          <a:ln w="31750" cap="rnd">
            <a:solidFill>
              <a:schemeClr val="accent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5438140" y="1537335"/>
            <a:ext cx="446405" cy="65087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870325" y="1075690"/>
            <a:ext cx="2557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线性部分，可以建模</a:t>
            </a:r>
            <a:endParaRPr lang="zh-CN" altLang="en-US" sz="2000"/>
          </a:p>
        </p:txBody>
      </p:sp>
      <p:sp>
        <p:nvSpPr>
          <p:cNvPr id="19" name="双括号 18"/>
          <p:cNvSpPr/>
          <p:nvPr/>
        </p:nvSpPr>
        <p:spPr>
          <a:xfrm>
            <a:off x="6727825" y="2258060"/>
            <a:ext cx="1045845" cy="263525"/>
          </a:xfrm>
          <a:prstGeom prst="bracketPair">
            <a:avLst/>
          </a:prstGeom>
          <a:ln w="31750" cap="rnd">
            <a:solidFill>
              <a:schemeClr val="accent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7181850" y="1599565"/>
            <a:ext cx="497205" cy="59245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826250" y="1075690"/>
            <a:ext cx="3391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非线性扰动，未知但很小</a:t>
            </a:r>
            <a:endParaRPr lang="zh-CN" altLang="en-US" sz="2000"/>
          </a:p>
        </p:txBody>
      </p:sp>
      <p:sp>
        <p:nvSpPr>
          <p:cNvPr id="25" name="文本框 24"/>
          <p:cNvSpPr txBox="1"/>
          <p:nvPr/>
        </p:nvSpPr>
        <p:spPr>
          <a:xfrm>
            <a:off x="3815715" y="4363720"/>
            <a:ext cx="4559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我们的目标其实是找到最优反馈矩阵</a:t>
            </a:r>
            <a:r>
              <a:rPr lang="en-US" altLang="zh-CN" sz="2000"/>
              <a:t> K</a:t>
            </a:r>
            <a:endParaRPr lang="en-US" altLang="zh-CN" sz="200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420" y="3333115"/>
            <a:ext cx="4252595" cy="8826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13" grpId="1" animBg="1"/>
      <p:bldP spid="17" grpId="1"/>
      <p:bldP spid="19" grpId="0" animBg="1"/>
      <p:bldP spid="24" grpId="0"/>
      <p:bldP spid="19" grpId="1" animBg="1"/>
      <p:bldP spid="24" grpId="1"/>
      <p:bldP spid="10" grpId="0"/>
      <p:bldP spid="10" grpId="1"/>
      <p:bldP spid="25" grpId="0"/>
      <p:bldP spid="2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箭头连接符 3"/>
          <p:cNvCxnSpPr>
            <a:stCxn id="3" idx="2"/>
            <a:endCxn id="5" idx="0"/>
          </p:cNvCxnSpPr>
          <p:nvPr/>
        </p:nvCxnSpPr>
        <p:spPr>
          <a:xfrm flipH="1">
            <a:off x="4547235" y="2904490"/>
            <a:ext cx="1621790" cy="70485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998470" y="3609340"/>
            <a:ext cx="3244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近似线性模型对应的代价</a:t>
            </a:r>
            <a:endParaRPr lang="zh-CN" altLang="en-US" sz="2000"/>
          </a:p>
          <a:p>
            <a:r>
              <a:rPr lang="zh-CN" altLang="en-US" sz="2000"/>
              <a:t>其梯度有解析表达式</a:t>
            </a:r>
            <a:endParaRPr lang="zh-CN" altLang="en-US" sz="2000"/>
          </a:p>
        </p:txBody>
      </p:sp>
      <p:cxnSp>
        <p:nvCxnSpPr>
          <p:cNvPr id="6" name="直接箭头连接符 5"/>
          <p:cNvCxnSpPr>
            <a:endCxn id="7" idx="0"/>
          </p:cNvCxnSpPr>
          <p:nvPr/>
        </p:nvCxnSpPr>
        <p:spPr>
          <a:xfrm>
            <a:off x="7021195" y="2904490"/>
            <a:ext cx="1616710" cy="74803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131685" y="3652520"/>
            <a:ext cx="3001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未知模型误差造成的残差</a:t>
            </a:r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772795" y="1336675"/>
            <a:ext cx="81711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在计算真实系统的代价时，函数评估昂贵。</a:t>
            </a:r>
            <a:endParaRPr lang="zh-CN" altLang="en-US" sz="2000"/>
          </a:p>
          <a:p>
            <a:r>
              <a:rPr lang="zh-CN" altLang="en-US" sz="2000"/>
              <a:t>所以我们考虑把它分成两部分：线性部分和用于修正偏差的补偿。即：</a:t>
            </a:r>
            <a:endParaRPr lang="zh-CN" altLang="en-US" sz="2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5355" y="2418715"/>
            <a:ext cx="2798445" cy="4419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59155" y="82867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使用的梯度也相应地分成两部分：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3155" y="2496820"/>
            <a:ext cx="2431415" cy="654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865" y="3151505"/>
            <a:ext cx="5040630" cy="654050"/>
          </a:xfrm>
          <a:prstGeom prst="rect">
            <a:avLst/>
          </a:prstGeom>
        </p:spPr>
      </p:pic>
      <p:cxnSp>
        <p:nvCxnSpPr>
          <p:cNvPr id="5" name="直接箭头连接符 4"/>
          <p:cNvCxnSpPr>
            <a:stCxn id="3" idx="0"/>
            <a:endCxn id="6" idx="2"/>
          </p:cNvCxnSpPr>
          <p:nvPr/>
        </p:nvCxnSpPr>
        <p:spPr>
          <a:xfrm flipH="1" flipV="1">
            <a:off x="5720080" y="2055495"/>
            <a:ext cx="419100" cy="44132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119370" y="1656715"/>
            <a:ext cx="1201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模型梯度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7100570" y="1656715"/>
            <a:ext cx="1201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梯度误差</a:t>
            </a:r>
            <a:endParaRPr lang="zh-CN" altLang="en-US" sz="2000"/>
          </a:p>
        </p:txBody>
      </p:sp>
      <p:cxnSp>
        <p:nvCxnSpPr>
          <p:cNvPr id="8" name="直接箭头连接符 7"/>
          <p:cNvCxnSpPr>
            <a:endCxn id="7" idx="2"/>
          </p:cNvCxnSpPr>
          <p:nvPr/>
        </p:nvCxnSpPr>
        <p:spPr>
          <a:xfrm flipV="1">
            <a:off x="7265670" y="2055495"/>
            <a:ext cx="435610" cy="44132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3" idx="1"/>
            <a:endCxn id="10" idx="2"/>
          </p:cNvCxnSpPr>
          <p:nvPr/>
        </p:nvCxnSpPr>
        <p:spPr>
          <a:xfrm flipH="1" flipV="1">
            <a:off x="4047490" y="2496820"/>
            <a:ext cx="875665" cy="32766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171825" y="2128520"/>
            <a:ext cx="1751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补偿模型梯度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3689350" y="1227455"/>
            <a:ext cx="481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模型梯度</a:t>
            </a:r>
            <a:r>
              <a:rPr lang="en-US" altLang="zh-CN" sz="2000"/>
              <a:t>+</a:t>
            </a:r>
            <a:r>
              <a:rPr lang="zh-CN" altLang="en-US" sz="2000"/>
              <a:t>最新的梯度误差</a:t>
            </a:r>
            <a:r>
              <a:rPr lang="en-US" altLang="zh-CN" sz="2000"/>
              <a:t>=</a:t>
            </a:r>
            <a:r>
              <a:rPr lang="zh-CN" altLang="en-US" sz="2000"/>
              <a:t>补偿模型梯度</a:t>
            </a:r>
            <a:endParaRPr lang="zh-CN" altLang="en-US" sz="2000"/>
          </a:p>
        </p:txBody>
      </p:sp>
      <p:cxnSp>
        <p:nvCxnSpPr>
          <p:cNvPr id="13" name="直接箭头连接符 12"/>
          <p:cNvCxnSpPr>
            <a:endCxn id="14" idx="0"/>
          </p:cNvCxnSpPr>
          <p:nvPr/>
        </p:nvCxnSpPr>
        <p:spPr>
          <a:xfrm flipH="1">
            <a:off x="4422140" y="3685540"/>
            <a:ext cx="782955" cy="33655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522855" y="4022090"/>
            <a:ext cx="3797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最近一次计算真实梯度的补偿点</a:t>
            </a:r>
            <a:endParaRPr lang="en-US" altLang="zh-CN" sz="2000"/>
          </a:p>
        </p:txBody>
      </p:sp>
      <p:sp>
        <p:nvSpPr>
          <p:cNvPr id="15" name="文本框 14"/>
          <p:cNvSpPr txBox="1"/>
          <p:nvPr/>
        </p:nvSpPr>
        <p:spPr>
          <a:xfrm>
            <a:off x="1793875" y="4556125"/>
            <a:ext cx="82715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当目前使用的补偿不可信时，才使用模型自由策略更新误差。</a:t>
            </a:r>
            <a:endParaRPr lang="zh-CN" altLang="en-US" sz="2000"/>
          </a:p>
          <a:p>
            <a:r>
              <a:rPr lang="zh-CN" altLang="en-US" sz="2000"/>
              <a:t>所以在整体算法中，两个阶段是交替的：模型基础阶段和模型自由阶段。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10" grpId="0"/>
      <p:bldP spid="10" grpId="1"/>
      <p:bldP spid="14" grpId="0"/>
      <p:bldP spid="14" grpId="1"/>
      <p:bldP spid="15" grpId="0"/>
      <p:bldP spid="1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79390" y="664845"/>
            <a:ext cx="1682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算法流程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3829685" y="1957070"/>
            <a:ext cx="1678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/>
              <a:t>当前状态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652260" y="1803400"/>
            <a:ext cx="17900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当前补偿模型</a:t>
            </a:r>
            <a:endParaRPr lang="zh-CN" altLang="en-US" sz="2000"/>
          </a:p>
          <a:p>
            <a:r>
              <a:rPr lang="zh-CN" altLang="en-US" sz="2000"/>
              <a:t>的终止状态</a:t>
            </a:r>
            <a:endParaRPr lang="zh-CN" altLang="en-US" sz="2000"/>
          </a:p>
        </p:txBody>
      </p:sp>
      <p:cxnSp>
        <p:nvCxnSpPr>
          <p:cNvPr id="5" name="直接箭头连接符 4"/>
          <p:cNvCxnSpPr>
            <a:stCxn id="3" idx="3"/>
            <a:endCxn id="4" idx="1"/>
          </p:cNvCxnSpPr>
          <p:nvPr/>
        </p:nvCxnSpPr>
        <p:spPr>
          <a:xfrm>
            <a:off x="5507990" y="2156460"/>
            <a:ext cx="1144270" cy="63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431790" y="1713230"/>
            <a:ext cx="1221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/>
              <a:t>梯度下降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6657340" y="3800475"/>
            <a:ext cx="17856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计算真实梯度</a:t>
            </a:r>
            <a:endParaRPr lang="zh-CN" altLang="en-US" sz="2000"/>
          </a:p>
          <a:p>
            <a:r>
              <a:rPr lang="zh-CN" altLang="en-US" sz="2000"/>
              <a:t>并更新补偿量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3753485" y="3800475"/>
            <a:ext cx="18307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更新补偿模型</a:t>
            </a:r>
            <a:endParaRPr lang="zh-CN" altLang="en-US" sz="2000"/>
          </a:p>
          <a:p>
            <a:r>
              <a:rPr lang="zh-CN" altLang="en-US" sz="2000"/>
              <a:t>和当前状态</a:t>
            </a:r>
            <a:endParaRPr lang="zh-CN" altLang="en-US" sz="2000"/>
          </a:p>
        </p:txBody>
      </p:sp>
      <p:cxnSp>
        <p:nvCxnSpPr>
          <p:cNvPr id="12" name="直接箭头连接符 11"/>
          <p:cNvCxnSpPr>
            <a:stCxn id="4" idx="2"/>
            <a:endCxn id="7" idx="0"/>
          </p:cNvCxnSpPr>
          <p:nvPr/>
        </p:nvCxnSpPr>
        <p:spPr>
          <a:xfrm>
            <a:off x="7547610" y="2510155"/>
            <a:ext cx="2540" cy="12903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623175" y="2647950"/>
            <a:ext cx="819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模型自由阶段</a:t>
            </a:r>
            <a:endParaRPr lang="zh-CN" altLang="en-US" sz="2000"/>
          </a:p>
        </p:txBody>
      </p:sp>
      <p:cxnSp>
        <p:nvCxnSpPr>
          <p:cNvPr id="14" name="直接箭头连接符 13"/>
          <p:cNvCxnSpPr>
            <a:stCxn id="7" idx="1"/>
            <a:endCxn id="11" idx="3"/>
          </p:cNvCxnSpPr>
          <p:nvPr/>
        </p:nvCxnSpPr>
        <p:spPr>
          <a:xfrm flipH="1">
            <a:off x="5584190" y="4154170"/>
            <a:ext cx="1073150" cy="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1" idx="0"/>
            <a:endCxn id="3" idx="2"/>
          </p:cNvCxnSpPr>
          <p:nvPr/>
        </p:nvCxnSpPr>
        <p:spPr>
          <a:xfrm flipV="1">
            <a:off x="4669155" y="2355850"/>
            <a:ext cx="0" cy="144462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4" grpId="0"/>
      <p:bldP spid="4" grpId="1"/>
      <p:bldP spid="13" grpId="0"/>
      <p:bldP spid="13" grpId="1"/>
      <p:bldP spid="7" grpId="0"/>
      <p:bldP spid="7" grpId="1"/>
      <p:bldP spid="11" grpId="0"/>
      <p:bldP spid="1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5960" y="809625"/>
            <a:ext cx="8137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在模型基础阶段中，因为使用的是近似的补偿模型，所以存在一些问题：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297305" y="1365250"/>
            <a:ext cx="75806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查找合适步长的回溯线搜索可能会死循环。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梯度下降幅度可能不充分，导致状态无法更新到真实最优状态。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95960" y="24631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针对以上问题，进行了两点优化：</a:t>
            </a:r>
            <a:endParaRPr lang="en-US" altLang="zh-CN" sz="2000"/>
          </a:p>
        </p:txBody>
      </p:sp>
      <p:sp>
        <p:nvSpPr>
          <p:cNvPr id="5" name="文本框 4"/>
          <p:cNvSpPr txBox="1"/>
          <p:nvPr/>
        </p:nvSpPr>
        <p:spPr>
          <a:xfrm>
            <a:off x="1297305" y="3032125"/>
            <a:ext cx="2849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设置步长的范围，即：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938270" y="3032125"/>
                <a:ext cx="2186940" cy="39814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270" y="3032125"/>
                <a:ext cx="2186940" cy="3981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297305" y="3430905"/>
            <a:ext cx="4715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2.</a:t>
            </a:r>
            <a:r>
              <a:rPr lang="zh-CN" altLang="en-US" sz="2000"/>
              <a:t>限定补偿梯度和真实梯度的偏差，即：</a:t>
            </a:r>
            <a:endParaRPr lang="zh-CN" altLang="en-US" sz="2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275" y="3386455"/>
            <a:ext cx="2514600" cy="5765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39775" y="4116705"/>
            <a:ext cx="7366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由于计算真实梯度代价昂贵，我们可以舍弃梯度误差的一些精度，保证其易于计算的上界满足条件即可：</a:t>
            </a:r>
            <a:endParaRPr lang="zh-CN" altLang="en-US" sz="20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960" y="5188585"/>
            <a:ext cx="3345180" cy="7651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5" grpId="0"/>
      <p:bldP spid="7" grpId="0"/>
      <p:bldP spid="8" grpId="0"/>
      <p:bldP spid="4" grpId="1"/>
      <p:bldP spid="5" grpId="1"/>
      <p:bldP spid="7" grpId="1"/>
      <p:bldP spid="8" grpId="1"/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8340" y="558165"/>
            <a:ext cx="9996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理论分析和数据实验都证明：</a:t>
            </a:r>
            <a:endParaRPr lang="zh-CN" altLang="en-US" sz="2000"/>
          </a:p>
          <a:p>
            <a:r>
              <a:rPr lang="zh-CN" altLang="en-US" sz="2000"/>
              <a:t>在达到相同精度时，</a:t>
            </a:r>
            <a:r>
              <a:rPr lang="en-US" altLang="zh-CN" sz="2000"/>
              <a:t>GC </a:t>
            </a:r>
            <a:r>
              <a:rPr lang="zh-CN" altLang="en-US" sz="2000"/>
              <a:t>算法使用的函数评估次数少于只使用模型自由的算法。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475" y="2075815"/>
            <a:ext cx="8655050" cy="2203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608516" y="4371594"/>
                <a:ext cx="1532890" cy="4152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:r>
                  <a:rPr lang="en-US" altLang="zh-CN" sz="200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GC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𝛾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6</m:t>
                    </m:r>
                  </m:oMath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516" y="4371594"/>
                <a:ext cx="1532890" cy="415290"/>
              </a:xfrm>
              <a:prstGeom prst="rect">
                <a:avLst/>
              </a:prstGeom>
              <a:blipFill rotWithShape="1">
                <a:blip r:embed="rId2"/>
                <a:stretch>
                  <a:fillRect l="-37" t="-61" r="3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397436" y="4371594"/>
                <a:ext cx="1532890" cy="4152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:r>
                  <a:rPr lang="en-US" altLang="zh-CN" sz="200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GC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𝛾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</m:t>
                    </m:r>
                  </m:oMath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36" y="4371594"/>
                <a:ext cx="1532890" cy="415290"/>
              </a:xfrm>
              <a:prstGeom prst="rect">
                <a:avLst/>
              </a:prstGeom>
              <a:blipFill rotWithShape="1">
                <a:blip r:embed="rId3"/>
                <a:stretch>
                  <a:fillRect l="-37" t="-61" r="3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7776845" y="4371340"/>
            <a:ext cx="2908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只使用模型自由的算法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751391" y="5084064"/>
                <a:ext cx="124777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𝛾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391" y="5084064"/>
                <a:ext cx="1247775" cy="398780"/>
              </a:xfrm>
              <a:prstGeom prst="rect">
                <a:avLst/>
              </a:prstGeom>
              <a:blipFill rotWithShape="1">
                <a:blip r:embed="rId4"/>
                <a:stretch>
                  <a:fillRect l="-46" t="-64" r="46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940435" y="5083810"/>
            <a:ext cx="1974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在实验中发现：</a:t>
            </a:r>
            <a:endParaRPr lang="zh-CN" altLang="en-US" sz="2000"/>
          </a:p>
        </p:txBody>
      </p:sp>
      <p:sp>
        <p:nvSpPr>
          <p:cNvPr id="13" name="文本框 12"/>
          <p:cNvSpPr txBox="1"/>
          <p:nvPr/>
        </p:nvSpPr>
        <p:spPr>
          <a:xfrm>
            <a:off x="3895725" y="5083810"/>
            <a:ext cx="2952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都会影响函数评估次数。</a:t>
            </a:r>
            <a:endParaRPr lang="zh-CN" altLang="en-US" sz="2000"/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59460" y="1840865"/>
            <a:ext cx="2790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该算法当然存在局限：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3549650" y="2512060"/>
            <a:ext cx="50933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真实目标函数必须满足</a:t>
            </a:r>
            <a:r>
              <a:rPr lang="en-US" altLang="zh-CN" sz="2000"/>
              <a:t> PL </a:t>
            </a:r>
            <a:r>
              <a:rPr lang="zh-CN" altLang="en-US" sz="2000"/>
              <a:t>条件。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残差梯度必须是</a:t>
            </a:r>
            <a:r>
              <a:rPr lang="en-US" altLang="zh-CN" sz="2000"/>
              <a:t>                      </a:t>
            </a:r>
            <a:r>
              <a:rPr lang="zh-CN" altLang="en-US" sz="2000"/>
              <a:t>连续的。</a:t>
            </a:r>
            <a:endParaRPr lang="zh-CN" altLang="en-US" sz="2000"/>
          </a:p>
          <a:p>
            <a:r>
              <a:rPr lang="en-US" altLang="zh-CN" sz="2000"/>
              <a:t>3.</a:t>
            </a:r>
            <a:r>
              <a:rPr lang="zh-CN" altLang="en-US" sz="2000"/>
              <a:t>模型梯度必须有闭式表达式。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625401" y="2835529"/>
                <a:ext cx="162115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𝐿𝑖𝑝𝑠𝑐ℎ𝑖𝑡𝑧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401" y="2835529"/>
                <a:ext cx="1621155" cy="368300"/>
              </a:xfrm>
              <a:prstGeom prst="rect">
                <a:avLst/>
              </a:prstGeom>
              <a:blipFill rotWithShape="1">
                <a:blip r:embed="rId1"/>
                <a:stretch>
                  <a:fillRect l="-35" t="-69" r="3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682490" y="223583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chemeClr val="bg2"/>
                </a:solidFill>
              </a:rPr>
              <a:t>论文内容</a:t>
            </a:r>
            <a:endParaRPr lang="zh-CN" altLang="en-US" sz="4800">
              <a:solidFill>
                <a:schemeClr val="bg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82490" y="311721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chemeClr val="tx1"/>
                </a:solidFill>
              </a:rPr>
              <a:t>代码复现</a:t>
            </a:r>
            <a:endParaRPr lang="zh-CN" altLang="en-US" sz="48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37080" y="2137410"/>
            <a:ext cx="9906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n w="15875"/>
                <a:gradFill>
                  <a:gsLst>
                    <a:gs pos="0">
                      <a:schemeClr val="accent1">
                        <a:lumOff val="-19997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7"/>
                      </a:schemeClr>
                    </a:gs>
                  </a:gsLst>
                  <a:lin ang="0" scaled="0"/>
                </a:gradFill>
                <a:effectLst/>
              </a:rPr>
              <a:t>目录</a:t>
            </a:r>
            <a:endParaRPr lang="zh-CN" altLang="en-US" sz="5400">
              <a:ln w="15875"/>
              <a:gradFill>
                <a:gsLst>
                  <a:gs pos="0">
                    <a:schemeClr val="accent1">
                      <a:lumOff val="-19997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7"/>
                    </a:schemeClr>
                  </a:gs>
                </a:gsLst>
                <a:lin ang="0" scaled="0"/>
              </a:grad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39825" y="1858645"/>
            <a:ext cx="98907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代码复现了</a:t>
            </a:r>
            <a:r>
              <a:rPr lang="en-US" altLang="zh-CN" sz="2000"/>
              <a:t> GC </a:t>
            </a:r>
            <a:r>
              <a:rPr lang="zh-CN" altLang="en-US" sz="2000"/>
              <a:t>算法和纯模型自由算法在解决凸二次函数最小值问题上的表现。</a:t>
            </a:r>
            <a:endParaRPr lang="zh-CN" altLang="en-US" sz="2000"/>
          </a:p>
          <a:p>
            <a:r>
              <a:rPr lang="zh-CN" altLang="en-US" sz="2000"/>
              <a:t>我们需要复现以下内容：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2144395" y="3204210"/>
            <a:ext cx="78822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构造凸二次目标函数。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实现</a:t>
            </a:r>
            <a:r>
              <a:rPr lang="en-US" altLang="zh-CN" sz="2000"/>
              <a:t> GC </a:t>
            </a:r>
            <a:r>
              <a:rPr lang="zh-CN" altLang="en-US" sz="2000"/>
              <a:t>算法和纯模型自由算法。</a:t>
            </a:r>
            <a:endParaRPr lang="zh-CN" altLang="en-US" sz="2000"/>
          </a:p>
          <a:p>
            <a:r>
              <a:rPr lang="en-US" altLang="zh-CN" sz="2000"/>
              <a:t>3.</a:t>
            </a:r>
            <a:r>
              <a:rPr lang="zh-CN" altLang="en-US" sz="2000"/>
              <a:t>比较状态精度达到</a:t>
            </a:r>
            <a:r>
              <a:rPr lang="en-US" altLang="zh-CN" sz="2000"/>
              <a:t> 0.001 </a:t>
            </a:r>
            <a:r>
              <a:rPr lang="zh-CN" altLang="en-US" sz="2000"/>
              <a:t>时所需的函数评估次数。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6435" y="394970"/>
            <a:ext cx="2798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1.</a:t>
            </a:r>
            <a:r>
              <a:rPr lang="zh-CN" altLang="en-US" sz="2000">
                <a:sym typeface="+mn-ea"/>
              </a:rPr>
              <a:t>构造凸二次目标函数：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1656080"/>
            <a:ext cx="3924300" cy="3302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3930" y="5408295"/>
            <a:ext cx="2032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生成矩阵</a:t>
            </a:r>
            <a:r>
              <a:rPr lang="en-US" altLang="zh-CN" sz="2000"/>
              <a:t> P</a:t>
            </a:r>
            <a:r>
              <a:rPr lang="zh-CN" altLang="en-US" sz="2000"/>
              <a:t>，</a:t>
            </a:r>
            <a:r>
              <a:rPr lang="en-US" altLang="zh-CN" sz="2000"/>
              <a:t>Q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793750"/>
            <a:ext cx="1905000" cy="3987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0" y="793750"/>
            <a:ext cx="3638550" cy="368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780" y="1656080"/>
            <a:ext cx="4059555" cy="330644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287520" y="5408295"/>
            <a:ext cx="38982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模型函数、偏差函数、真实函数及它们的梯度</a:t>
            </a:r>
            <a:endParaRPr lang="zh-CN" altLang="en-US" sz="20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730" y="3848735"/>
            <a:ext cx="3055620" cy="11137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634730" y="5408295"/>
            <a:ext cx="3201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由凸二次函数表达式直接得到最优解</a:t>
            </a:r>
            <a:endParaRPr lang="zh-CN" altLang="en-US" sz="2000"/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2.</a:t>
            </a:r>
            <a:r>
              <a:rPr lang="zh-CN" altLang="en-US" sz="2000">
                <a:sym typeface="+mn-ea"/>
              </a:rPr>
              <a:t>算法实现</a:t>
            </a:r>
            <a:endParaRPr lang="zh-CN" altLang="en-US" sz="2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204595"/>
            <a:ext cx="4848860" cy="42627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24000" y="5568950"/>
            <a:ext cx="1960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回溯线搜索算法</a:t>
            </a:r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820" y="1211580"/>
            <a:ext cx="6544310" cy="42557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77380" y="5568950"/>
            <a:ext cx="3530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模型基础阶段的梯度下降算法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2.</a:t>
            </a:r>
            <a:r>
              <a:rPr lang="zh-CN" altLang="en-US" sz="2000">
                <a:sym typeface="+mn-ea"/>
              </a:rPr>
              <a:t>算法实现</a:t>
            </a:r>
            <a:endParaRPr lang="zh-CN" altLang="en-US" sz="20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0585" y="3229610"/>
            <a:ext cx="1194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230" y="793750"/>
            <a:ext cx="6733540" cy="59074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0" y="1000125"/>
            <a:ext cx="8393430" cy="48583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2.</a:t>
            </a:r>
            <a:r>
              <a:rPr lang="zh-CN" altLang="en-US" sz="2000">
                <a:sym typeface="+mn-ea"/>
              </a:rPr>
              <a:t>算法实现</a:t>
            </a:r>
            <a:endParaRPr lang="zh-CN" altLang="en-US" sz="20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3870" y="3201670"/>
            <a:ext cx="1967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纯模型自由算法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3.</a:t>
            </a:r>
            <a:r>
              <a:rPr lang="zh-CN" altLang="en-US" sz="2000">
                <a:sym typeface="+mn-ea"/>
              </a:rPr>
              <a:t>复现结果</a:t>
            </a:r>
            <a:endParaRPr lang="zh-CN" altLang="en-US" sz="200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86371" y="1134364"/>
                <a:ext cx="836612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𝛽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5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005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71" y="1134364"/>
                <a:ext cx="8366125" cy="398780"/>
              </a:xfrm>
              <a:prstGeom prst="rect">
                <a:avLst/>
              </a:prstGeom>
              <a:blipFill rotWithShape="1">
                <a:blip r:embed="rId1"/>
                <a:stretch>
                  <a:fillRect l="-7" t="-64" r="7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181215" y="3429000"/>
            <a:ext cx="48209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算法的表现明显优于纯模型自由算法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230681" y="3932174"/>
                <a:ext cx="34099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𝛾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681" y="3932174"/>
                <a:ext cx="340995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167" t="-64" r="167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432040" y="393192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的大小影响了函数评估次数</a:t>
            </a:r>
            <a:endParaRPr lang="zh-CN" altLang="en-US" sz="2000"/>
          </a:p>
        </p:txBody>
      </p:sp>
      <p:pic>
        <p:nvPicPr>
          <p:cNvPr id="13" name="图片 12" descr="converg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35" y="1845310"/>
            <a:ext cx="6400800" cy="4572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56335" y="2227580"/>
            <a:ext cx="4857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算法的费用确实小于纯模型自由算法。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808990" y="16783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通过复现结果，我们可以知道：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156335" y="2727325"/>
            <a:ext cx="2712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函数参数会影响费用。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860425" y="3959860"/>
            <a:ext cx="10471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复现实验验证了补偿模型的核心机制：</a:t>
            </a:r>
            <a:endParaRPr lang="zh-CN" altLang="en-US" sz="2000"/>
          </a:p>
          <a:p>
            <a:pPr indent="457200"/>
            <a:r>
              <a:rPr lang="zh-CN" altLang="en-US" sz="2000"/>
              <a:t>少量真实梯度更新校准大量模型梯度更新，从而降低达到相同精度所需的函数评估次数。</a:t>
            </a:r>
            <a:endParaRPr lang="en-US" altLang="zh-CN" sz="2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宽屏</PresentationFormat>
  <Paragraphs>181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Cambria Math</vt:lpstr>
      <vt:lpstr>MS Mincho</vt:lpstr>
      <vt:lpstr>Segoe Print</vt:lpstr>
      <vt:lpstr>微软雅黑</vt:lpstr>
      <vt:lpstr>Arial Unicode MS</vt:lpstr>
      <vt:lpstr>Calibri</vt:lpstr>
      <vt:lpstr>Ms.Luce</vt:lpstr>
      <vt:lpstr>WPS</vt:lpstr>
      <vt:lpstr>论文汇报</vt:lpstr>
      <vt:lpstr>PowerPoint 演示文稿</vt:lpstr>
      <vt:lpstr>模型自由与模型基础的优缺点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优优</cp:lastModifiedBy>
  <cp:revision>282</cp:revision>
  <dcterms:created xsi:type="dcterms:W3CDTF">2019-06-19T02:08:00Z</dcterms:created>
  <dcterms:modified xsi:type="dcterms:W3CDTF">2026-10-08T14:50:19Z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57E40A79DE6C409DBDAEF52AC923B0ED_11</vt:lpwstr>
  </property>
</Properties>
</file>