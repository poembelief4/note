
<file path=[Content_Types].xml><?xml version="1.0" encoding="utf-8"?>
<Types xmlns="http://schemas.openxmlformats.org/package/2006/content-types"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microsoft.com/office/2007/relationships/media" Target="../media/audio1.wav"/><Relationship Id="rId8" Type="http://schemas.openxmlformats.org/officeDocument/2006/relationships/audio" Target="../media/audio1.wav"/><Relationship Id="rId7" Type="http://schemas.microsoft.com/office/2007/relationships/media" Target="file:///C:/Users/13617/Downloads/&#38397;&#21335;&#35821;.wav" TargetMode="External"/><Relationship Id="rId6" Type="http://schemas.openxmlformats.org/officeDocument/2006/relationships/audio" Target="file:///C:/Users/13617/Downloads/&#38397;&#21335;&#35821;.wav" TargetMode="External"/><Relationship Id="rId5" Type="http://schemas.microsoft.com/office/2007/relationships/media" Target="file:///C:/Users/13617/Downloads/&#21335;&#20140;&#35805;.wav" TargetMode="External"/><Relationship Id="rId4" Type="http://schemas.openxmlformats.org/officeDocument/2006/relationships/audio" Target="file:///C:/Users/13617/Downloads/&#21335;&#20140;&#35805;.wav" TargetMode="External"/><Relationship Id="rId3" Type="http://schemas.openxmlformats.org/officeDocument/2006/relationships/image" Target="../media/image1.png"/><Relationship Id="rId2" Type="http://schemas.microsoft.com/office/2007/relationships/media" Target="file:///C:/Users/13617/Downloads/&#31908;&#35821;.mp3" TargetMode="Externa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64.xml"/><Relationship Id="rId1" Type="http://schemas.openxmlformats.org/officeDocument/2006/relationships/audio" Target="file:///C:/Users/13617/Downloads/&#31908;&#35821;.mp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4735" y="1690370"/>
            <a:ext cx="10082530" cy="2251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5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Differences between </a:t>
            </a:r>
            <a:endParaRPr lang="en-US" altLang="zh-CN" sz="5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Northern and Southern Dialects </a:t>
            </a:r>
            <a:endParaRPr lang="en-US" altLang="zh-CN" sz="5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sz="5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A Special Case</a:t>
            </a:r>
            <a:endParaRPr lang="en-US" altLang="zh-CN" sz="5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67215" y="4819650"/>
            <a:ext cx="167005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2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刘亦优</a:t>
            </a:r>
            <a:endParaRPr lang="zh-CN" altLang="en-US" sz="32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9360" y="3376295"/>
            <a:ext cx="1058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粤语</a:t>
            </a:r>
            <a:endParaRPr lang="zh-CN" altLang="en-US" sz="3200"/>
          </a:p>
        </p:txBody>
      </p:sp>
      <p:pic>
        <p:nvPicPr>
          <p:cNvPr id="3" name="粤语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52575" y="4150360"/>
            <a:ext cx="412750" cy="4127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41420" y="3376295"/>
            <a:ext cx="1431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南京话</a:t>
            </a:r>
            <a:endParaRPr lang="zh-CN" altLang="en-US" sz="3200"/>
          </a:p>
        </p:txBody>
      </p:sp>
      <p:pic>
        <p:nvPicPr>
          <p:cNvPr id="5" name="南京话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250690" y="4150360"/>
            <a:ext cx="412750" cy="4127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26225" y="3376295"/>
            <a:ext cx="1431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闽南语</a:t>
            </a:r>
            <a:endParaRPr lang="zh-CN" altLang="en-US" sz="3200"/>
          </a:p>
        </p:txBody>
      </p:sp>
      <p:pic>
        <p:nvPicPr>
          <p:cNvPr id="7" name="闽南语">
            <a:hlinkClick r:id="" action="ppaction://media"/>
          </p:cNvPr>
          <p:cNvPicPr/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135495" y="4150360"/>
            <a:ext cx="412750" cy="4127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11030" y="3376295"/>
            <a:ext cx="1431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四川话</a:t>
            </a:r>
            <a:endParaRPr lang="zh-CN" altLang="en-US" sz="3200"/>
          </a:p>
        </p:txBody>
      </p:sp>
      <p:pic>
        <p:nvPicPr>
          <p:cNvPr id="9" name="四川话">
            <a:hlinkClick r:id="" action="ppaction://media"/>
          </p:cNvPr>
          <p:cNvPicPr/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020300" y="4150360"/>
            <a:ext cx="412750" cy="412750"/>
          </a:xfrm>
          <a:prstGeom prst="rect">
            <a:avLst/>
          </a:prstGeom>
        </p:spPr>
      </p:pic>
      <p:cxnSp>
        <p:nvCxnSpPr>
          <p:cNvPr id="12" name="直接箭头连接符 11"/>
          <p:cNvCxnSpPr>
            <a:stCxn id="8" idx="0"/>
            <a:endCxn id="13" idx="2"/>
          </p:cNvCxnSpPr>
          <p:nvPr/>
        </p:nvCxnSpPr>
        <p:spPr>
          <a:xfrm flipH="1" flipV="1">
            <a:off x="8943340" y="2498725"/>
            <a:ext cx="1283335" cy="87757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096000" y="1915160"/>
            <a:ext cx="5694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Northern or southern dialect?</a:t>
            </a:r>
            <a:endParaRPr lang="en-US" altLang="zh-CN" sz="3200"/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2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9" dur="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2" dur="1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5" dur="96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6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>
                <p:cTn id="2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>
                <p:cTn id="28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>
                <p:cTn id="29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3" grpId="0"/>
      <p:bldP spid="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30885" y="3075940"/>
            <a:ext cx="22066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Outline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3524250" y="1659890"/>
            <a:ext cx="784479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How to distinguish between northern and southern dialects</a:t>
            </a:r>
            <a:endParaRPr lang="en-US" altLang="zh-CN" sz="3200"/>
          </a:p>
          <a:p>
            <a:endParaRPr lang="en-US" altLang="zh-CN" sz="3200"/>
          </a:p>
          <a:p>
            <a:r>
              <a:rPr lang="en-US" altLang="zh-CN" sz="3200"/>
              <a:t>Why they’re different</a:t>
            </a:r>
            <a:endParaRPr lang="en-US" altLang="zh-CN" sz="3200"/>
          </a:p>
          <a:p>
            <a:endParaRPr lang="en-US" altLang="zh-CN" sz="3200"/>
          </a:p>
          <a:p>
            <a:r>
              <a:rPr lang="en-US" altLang="zh-CN" sz="3200"/>
              <a:t>Why the southwestern dialect belongs to the northern dialect group</a:t>
            </a:r>
            <a:endParaRPr lang="en-US" altLang="zh-CN" sz="32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27835" y="2352675"/>
            <a:ext cx="87064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/>
              <a:t>A obvious difference:</a:t>
            </a:r>
            <a:endParaRPr lang="en-US" altLang="zh-CN" sz="3200"/>
          </a:p>
          <a:p>
            <a:pPr algn="ctr"/>
            <a:r>
              <a:rPr lang="en-US" altLang="zh-CN" sz="3200"/>
              <a:t>Whether we can understand the speaker easily</a:t>
            </a:r>
            <a:endParaRPr lang="en-US" altLang="zh-CN" sz="3200"/>
          </a:p>
        </p:txBody>
      </p:sp>
      <p:sp>
        <p:nvSpPr>
          <p:cNvPr id="3" name="文本框 2"/>
          <p:cNvSpPr txBox="1"/>
          <p:nvPr/>
        </p:nvSpPr>
        <p:spPr>
          <a:xfrm>
            <a:off x="4064000" y="36944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>
                <a:solidFill>
                  <a:srgbClr val="FF0000"/>
                </a:solidFill>
              </a:rPr>
              <a:t>But Why?</a:t>
            </a:r>
            <a:endParaRPr lang="en-US" altLang="zh-CN" sz="40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11905" y="4666615"/>
            <a:ext cx="45681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/>
              <a:t>Difference in geography</a:t>
            </a:r>
            <a:endParaRPr lang="en-US" altLang="zh-CN" sz="32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36245" y="319405"/>
          <a:ext cx="11185525" cy="539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2130"/>
                <a:gridCol w="5573395"/>
              </a:tblGrid>
              <a:tr h="13481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40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Northern Area</a:t>
                      </a:r>
                      <a:endParaRPr lang="en-US" altLang="zh-CN" sz="40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40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Southern Area</a:t>
                      </a:r>
                      <a:endParaRPr lang="en-US" altLang="zh-CN" sz="40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</a:tr>
              <a:tr h="13481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live on plains</a:t>
                      </a:r>
                      <a:endParaRPr lang="en-US" altLang="zh-CN" sz="32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ea typeface="微软雅黑" panose="020B0503020204020204" charset="-122"/>
                        </a:rPr>
                        <a:t>many hills and mountains</a:t>
                      </a:r>
                      <a:endParaRPr lang="en-US" altLang="zh-CN" sz="3200"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</a:tr>
              <a:tr h="13481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travel between cities</a:t>
                      </a:r>
                      <a:endParaRPr lang="en-US" altLang="zh-CN" sz="32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ea typeface="微软雅黑" panose="020B0503020204020204" charset="-122"/>
                        </a:rPr>
                        <a:t>remain in their local areas</a:t>
                      </a:r>
                      <a:endParaRPr lang="en-US" altLang="zh-CN" sz="3200"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</a:tr>
              <a:tr h="13481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need a common language</a:t>
                      </a:r>
                      <a:endParaRPr lang="en-US" altLang="zh-CN" sz="32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3200">
                          <a:ea typeface="微软雅黑" panose="020B0503020204020204" charset="-122"/>
                        </a:rPr>
                        <a:t>communicate with only a small number of people</a:t>
                      </a:r>
                      <a:endParaRPr lang="en-US" altLang="zh-CN" sz="3200">
                        <a:ea typeface="微软雅黑" panose="020B0503020204020204" charset="-122"/>
                      </a:endParaRPr>
                    </a:p>
                  </a:txBody>
                  <a:tcPr marL="317500" marR="317500" marT="215900" marB="215900"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TABLE_ENDDRAG_ORIGIN_RECT" val="880*507"/>
  <p:tag name="TABLE_ENDDRAG_RECT" val="31*21*880*507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WPS 演示</Application>
  <PresentationFormat>宽屏</PresentationFormat>
  <Paragraphs>47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Rustic Printed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优优</cp:lastModifiedBy>
  <cp:revision>161</cp:revision>
  <dcterms:created xsi:type="dcterms:W3CDTF">2019-06-19T02:08:00Z</dcterms:created>
  <dcterms:modified xsi:type="dcterms:W3CDTF">2026-10-17T13:21:19Z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E10D0A2FDCBA46E8B28E1FDECB9218C7_11</vt:lpwstr>
  </property>
</Properties>
</file>