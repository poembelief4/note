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5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666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1048667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</p:spPr>
      </p:sp>
      <p:sp>
        <p:nvSpPr>
          <p:cNvPr id="1048668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1048669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6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48582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048583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584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1048585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6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27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28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29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30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0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048641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1048642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43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44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5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46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47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48648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49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50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52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1048653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54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1048655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56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57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58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7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18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19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20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8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589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590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1048660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1048661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048662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1048663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1048664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1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1048632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48633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34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35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37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38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48639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1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22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23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48624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1048625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48577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48578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579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048580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文本框 3"/>
          <p:cNvSpPr txBox="1"/>
          <p:nvPr/>
        </p:nvSpPr>
        <p:spPr>
          <a:xfrm>
            <a:off x="1054735" y="1690370"/>
            <a:ext cx="10082530" cy="2251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Differences between 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Northern and Southern Dialects 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 A Special Case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48587" name="文本框 4"/>
          <p:cNvSpPr txBox="1"/>
          <p:nvPr/>
        </p:nvSpPr>
        <p:spPr>
          <a:xfrm>
            <a:off x="9467215" y="4819650"/>
            <a:ext cx="1670050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r>
              <a:rPr lang="zh-CN" altLang="en-US" sz="32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刘亦优</a:t>
            </a:r>
            <a:endParaRPr lang="zh-CN" altLang="en-US" sz="32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" name=""/>
        <p:cNvGrpSpPr/>
        <p:nvPr/>
      </p:nvGrpSpPr>
      <p:grpSpPr/>
      <p:sp>
        <p:nvSpPr>
          <p:cNvPr id="1048591" name="文本框 1"/>
          <p:cNvSpPr txBox="1"/>
          <p:nvPr/>
        </p:nvSpPr>
        <p:spPr>
          <a:xfrm>
            <a:off x="1229360" y="2214245"/>
            <a:ext cx="10585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粤语</a:t>
            </a:r>
            <a:endParaRPr lang="zh-CN" altLang="en-US" sz="3200"/>
          </a:p>
        </p:txBody>
      </p:sp>
      <p:sp>
        <p:nvSpPr>
          <p:cNvPr id="1048592" name="文本框 3"/>
          <p:cNvSpPr txBox="1"/>
          <p:nvPr/>
        </p:nvSpPr>
        <p:spPr>
          <a:xfrm>
            <a:off x="3741420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南京话</a:t>
            </a:r>
            <a:endParaRPr lang="zh-CN" altLang="en-US" sz="3200"/>
          </a:p>
        </p:txBody>
      </p:sp>
      <p:sp>
        <p:nvSpPr>
          <p:cNvPr id="1048593" name="文本框 5"/>
          <p:cNvSpPr txBox="1"/>
          <p:nvPr/>
        </p:nvSpPr>
        <p:spPr>
          <a:xfrm>
            <a:off x="6626225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闽南话</a:t>
            </a:r>
            <a:endParaRPr lang="zh-CN" altLang="en-US" sz="3200"/>
          </a:p>
        </p:txBody>
      </p:sp>
      <p:sp>
        <p:nvSpPr>
          <p:cNvPr id="1048594" name="文本框 7"/>
          <p:cNvSpPr txBox="1"/>
          <p:nvPr/>
        </p:nvSpPr>
        <p:spPr>
          <a:xfrm>
            <a:off x="9511030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四川话</a:t>
            </a:r>
            <a:endParaRPr lang="zh-CN" altLang="en-US" sz="3200"/>
          </a:p>
        </p:txBody>
      </p:sp>
      <p:cxnSp>
        <p:nvCxnSpPr>
          <p:cNvPr id="3145728" name="直接箭头连接符 11"/>
          <p:cNvCxnSpPr>
            <a:stCxn id="1048594" idx="0"/>
            <a:endCxn id="1048595" idx="2"/>
          </p:cNvCxnSpPr>
          <p:nvPr/>
        </p:nvCxnSpPr>
        <p:spPr>
          <a:xfrm flipH="1" flipV="1">
            <a:off x="8943340" y="1336675"/>
            <a:ext cx="1283335" cy="87757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8595" name="文本框 12"/>
          <p:cNvSpPr txBox="1"/>
          <p:nvPr/>
        </p:nvSpPr>
        <p:spPr>
          <a:xfrm>
            <a:off x="6096000" y="753110"/>
            <a:ext cx="5694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Northern or southern dialect?</a:t>
            </a:r>
            <a:endParaRPr lang="en-US" altLang="zh-CN" sz="3200"/>
          </a:p>
        </p:txBody>
      </p:sp>
      <p:sp>
        <p:nvSpPr>
          <p:cNvPr id="1048596" name="文本框 15"/>
          <p:cNvSpPr txBox="1"/>
          <p:nvPr/>
        </p:nvSpPr>
        <p:spPr>
          <a:xfrm>
            <a:off x="2388235" y="4152900"/>
            <a:ext cx="7632065" cy="11582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600"/>
              <a:t>The biggest difference: </a:t>
            </a:r>
            <a:endParaRPr lang="en-US" altLang="zh-CN" sz="3600"/>
          </a:p>
          <a:p>
            <a:pPr algn="ctr"/>
            <a:r>
              <a:rPr lang="en-US" altLang="zh-CN" sz="3600"/>
              <a:t>How easily we can understand them.</a:t>
            </a:r>
            <a:endParaRPr lang="en-US" altLang="zh-CN" sz="36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5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5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457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457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485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485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595" grpId="0"/>
      <p:bldP spid="1048595" grpId="1"/>
      <p:bldP spid="1048596" grpId="0"/>
      <p:bldP spid="1048596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" name=""/>
        <p:cNvGrpSpPr/>
        <p:nvPr/>
      </p:nvGrpSpPr>
      <p:grpSpPr/>
      <p:sp>
        <p:nvSpPr>
          <p:cNvPr id="1048597" name="文本框 1"/>
          <p:cNvSpPr txBox="1"/>
          <p:nvPr/>
        </p:nvSpPr>
        <p:spPr>
          <a:xfrm>
            <a:off x="730885" y="3075940"/>
            <a:ext cx="22066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000"/>
              <a:t>Outline</a:t>
            </a:r>
            <a:endParaRPr lang="en-US" altLang="zh-CN" sz="4000"/>
          </a:p>
        </p:txBody>
      </p:sp>
      <p:sp>
        <p:nvSpPr>
          <p:cNvPr id="1048598" name="文本框 2"/>
          <p:cNvSpPr txBox="1"/>
          <p:nvPr/>
        </p:nvSpPr>
        <p:spPr>
          <a:xfrm>
            <a:off x="3524250" y="1659890"/>
            <a:ext cx="7844790" cy="3469641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How to distinguish between northern and southern dialects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Why they’re different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Why the southwestern dialect belongs to the northern dialect group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" name=""/>
        <p:cNvGrpSpPr/>
        <p:nvPr/>
      </p:nvGrpSpPr>
      <p:grpSpPr/>
      <p:sp>
        <p:nvSpPr>
          <p:cNvPr id="1048599" name="文本框 1"/>
          <p:cNvSpPr txBox="1"/>
          <p:nvPr/>
        </p:nvSpPr>
        <p:spPr>
          <a:xfrm>
            <a:off x="1727835" y="2352675"/>
            <a:ext cx="870648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An obvious difference:</a:t>
            </a:r>
            <a:endParaRPr lang="en-US" altLang="zh-CN" sz="3200"/>
          </a:p>
          <a:p>
            <a:pPr algn="ctr"/>
            <a:r>
              <a:rPr lang="en-US" altLang="zh-CN" sz="3200"/>
              <a:t>Whether we can understand the speaker easily</a:t>
            </a:r>
            <a:endParaRPr lang="en-US" altLang="zh-CN" sz="3200"/>
          </a:p>
        </p:txBody>
      </p:sp>
      <p:sp>
        <p:nvSpPr>
          <p:cNvPr id="1048600" name="文本框 2"/>
          <p:cNvSpPr txBox="1"/>
          <p:nvPr/>
        </p:nvSpPr>
        <p:spPr>
          <a:xfrm>
            <a:off x="4064000" y="3694430"/>
            <a:ext cx="4064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rgbClr val="FF0000"/>
                </a:solidFill>
              </a:rPr>
              <a:t>But why?</a:t>
            </a:r>
            <a:endParaRPr lang="en-US" altLang="zh-CN" sz="4000">
              <a:solidFill>
                <a:srgbClr val="FF0000"/>
              </a:solidFill>
            </a:endParaRPr>
          </a:p>
        </p:txBody>
      </p:sp>
      <p:sp>
        <p:nvSpPr>
          <p:cNvPr id="1048601" name="文本框 5"/>
          <p:cNvSpPr txBox="1"/>
          <p:nvPr/>
        </p:nvSpPr>
        <p:spPr>
          <a:xfrm>
            <a:off x="3811905" y="4666615"/>
            <a:ext cx="45681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Difference in geography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6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6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86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86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600" grpId="0"/>
      <p:bldP spid="1048600" grpId="1"/>
      <p:bldP spid="1048601" grpId="0"/>
      <p:bldP spid="104860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" name=""/>
        <p:cNvGrpSpPr/>
        <p:nvPr/>
      </p:nvGrpSpPr>
      <p:grpSpPr/>
      <p:graphicFrame>
        <p:nvGraphicFramePr>
          <p:cNvPr id="4194304" name="表格 1"/>
          <p:cNvGraphicFramePr/>
          <p:nvPr>
            <p:custDataLst>
              <p:tags r:id="rId1"/>
            </p:custDataLst>
          </p:nvPr>
        </p:nvGraphicFramePr>
        <p:xfrm>
          <a:off x="436245" y="319405"/>
          <a:ext cx="11185525" cy="5392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2130"/>
                <a:gridCol w="5573395"/>
              </a:tblGrid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40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Northern Area</a:t>
                      </a:r>
                      <a:endParaRPr lang="en-US" altLang="zh-CN" sz="40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40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Southern Area</a:t>
                      </a:r>
                      <a:endParaRPr lang="en-US" altLang="zh-CN" sz="40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live on the plains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many hills and mountains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travel between cities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remain in their local areas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need a common language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communicate with only a small number of people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/>
      <p:sp>
        <p:nvSpPr>
          <p:cNvPr id="1048602" name="文本框 1"/>
          <p:cNvSpPr txBox="1"/>
          <p:nvPr/>
        </p:nvSpPr>
        <p:spPr>
          <a:xfrm>
            <a:off x="1600835" y="28454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What are you doing?!</a:t>
            </a:r>
            <a:endParaRPr lang="en-US" altLang="zh-CN" sz="3200"/>
          </a:p>
        </p:txBody>
      </p:sp>
      <p:sp>
        <p:nvSpPr>
          <p:cNvPr id="1048603" name="文本框 3"/>
          <p:cNvSpPr txBox="1"/>
          <p:nvPr/>
        </p:nvSpPr>
        <p:spPr>
          <a:xfrm>
            <a:off x="6871970" y="28454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Have you eaten?</a:t>
            </a:r>
            <a:endParaRPr lang="en-US" altLang="zh-CN" sz="3200"/>
          </a:p>
        </p:txBody>
      </p:sp>
      <p:sp>
        <p:nvSpPr>
          <p:cNvPr id="1048604" name="文本框 4"/>
          <p:cNvSpPr txBox="1"/>
          <p:nvPr/>
        </p:nvSpPr>
        <p:spPr>
          <a:xfrm>
            <a:off x="581025" y="501650"/>
            <a:ext cx="406463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A special case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86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86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602" grpId="0"/>
      <p:bldP spid="1048602" grpId="1"/>
      <p:bldP spid="1048603" grpId="0"/>
      <p:bldP spid="1048603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" name=""/>
        <p:cNvGrpSpPr/>
        <p:nvPr/>
      </p:nvGrpSpPr>
      <p:grpSpPr/>
      <p:sp>
        <p:nvSpPr>
          <p:cNvPr id="1048605" name="文本框 1"/>
          <p:cNvSpPr txBox="1"/>
          <p:nvPr/>
        </p:nvSpPr>
        <p:spPr>
          <a:xfrm>
            <a:off x="1414780" y="521970"/>
            <a:ext cx="936244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Why is a dialect spoken in southern China actually classified as a northern dialect?</a:t>
            </a:r>
            <a:endParaRPr lang="en-US" altLang="zh-CN" sz="3200"/>
          </a:p>
        </p:txBody>
      </p:sp>
      <p:sp>
        <p:nvSpPr>
          <p:cNvPr id="1048606" name="文本框 2"/>
          <p:cNvSpPr txBox="1"/>
          <p:nvPr/>
        </p:nvSpPr>
        <p:spPr>
          <a:xfrm>
            <a:off x="4756150" y="2153920"/>
            <a:ext cx="26797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rgbClr val="FF0000"/>
                </a:solidFill>
              </a:rPr>
              <a:t>M</a:t>
            </a:r>
            <a:r>
              <a:rPr lang="en-US" altLang="zh-CN" sz="4000">
                <a:solidFill>
                  <a:srgbClr val="FF0000"/>
                </a:solidFill>
              </a:rPr>
              <a:t>igration</a:t>
            </a:r>
            <a:endParaRPr lang="en-US" altLang="zh-CN" sz="4000">
              <a:solidFill>
                <a:srgbClr val="FF0000"/>
              </a:solidFill>
            </a:endParaRPr>
          </a:p>
        </p:txBody>
      </p:sp>
      <p:sp>
        <p:nvSpPr>
          <p:cNvPr id="1048607" name="文本框 3"/>
          <p:cNvSpPr txBox="1"/>
          <p:nvPr/>
        </p:nvSpPr>
        <p:spPr>
          <a:xfrm>
            <a:off x="2540" y="3415665"/>
            <a:ext cx="259778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800"/>
              <a:t>Migrants from northern China</a:t>
            </a:r>
            <a:endParaRPr lang="en-US" altLang="zh-CN" sz="2800"/>
          </a:p>
        </p:txBody>
      </p:sp>
      <p:sp>
        <p:nvSpPr>
          <p:cNvPr id="1048608" name="文本框 4"/>
          <p:cNvSpPr txBox="1"/>
          <p:nvPr/>
        </p:nvSpPr>
        <p:spPr>
          <a:xfrm>
            <a:off x="4342765" y="3415665"/>
            <a:ext cx="279781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800"/>
              <a:t>Southwestern</a:t>
            </a:r>
            <a:endParaRPr lang="en-US" altLang="zh-CN" sz="2800"/>
          </a:p>
          <a:p>
            <a:pPr algn="ctr"/>
            <a:r>
              <a:rPr lang="en-US" altLang="zh-CN" sz="2800"/>
              <a:t>China</a:t>
            </a:r>
            <a:endParaRPr lang="en-US" altLang="zh-CN" sz="2800"/>
          </a:p>
        </p:txBody>
      </p:sp>
      <p:cxnSp>
        <p:nvCxnSpPr>
          <p:cNvPr id="3145729" name="直接箭头连接符 5"/>
          <p:cNvCxnSpPr>
            <a:stCxn id="1048607" idx="3"/>
            <a:endCxn id="1048608" idx="1"/>
          </p:cNvCxnSpPr>
          <p:nvPr/>
        </p:nvCxnSpPr>
        <p:spPr>
          <a:xfrm>
            <a:off x="2600325" y="3892550"/>
            <a:ext cx="1742440" cy="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8609" name="文本框 6"/>
          <p:cNvSpPr txBox="1"/>
          <p:nvPr/>
        </p:nvSpPr>
        <p:spPr>
          <a:xfrm>
            <a:off x="2600960" y="3261360"/>
            <a:ext cx="1692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800"/>
              <a:t>Moved to</a:t>
            </a:r>
            <a:endParaRPr lang="en-US" altLang="zh-CN" sz="2800"/>
          </a:p>
        </p:txBody>
      </p:sp>
      <p:sp>
        <p:nvSpPr>
          <p:cNvPr id="1048610" name="文本框 7"/>
          <p:cNvSpPr txBox="1"/>
          <p:nvPr/>
        </p:nvSpPr>
        <p:spPr>
          <a:xfrm>
            <a:off x="2167255" y="4245610"/>
            <a:ext cx="287655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800"/>
              <a:t>With techniques and tools</a:t>
            </a:r>
            <a:endParaRPr lang="en-US" altLang="zh-CN" sz="2800"/>
          </a:p>
        </p:txBody>
      </p:sp>
      <p:sp>
        <p:nvSpPr>
          <p:cNvPr id="1048611" name="文本框 8"/>
          <p:cNvSpPr txBox="1"/>
          <p:nvPr/>
        </p:nvSpPr>
        <p:spPr>
          <a:xfrm>
            <a:off x="8088630" y="3415665"/>
            <a:ext cx="378968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800"/>
              <a:t>Influence government, trade and daily life</a:t>
            </a:r>
            <a:endParaRPr lang="en-US" altLang="zh-CN" sz="2800"/>
          </a:p>
        </p:txBody>
      </p:sp>
      <p:cxnSp>
        <p:nvCxnSpPr>
          <p:cNvPr id="3145730" name="直接箭头连接符 9"/>
          <p:cNvCxnSpPr>
            <a:stCxn id="1048608" idx="3"/>
            <a:endCxn id="1048611" idx="1"/>
          </p:cNvCxnSpPr>
          <p:nvPr/>
        </p:nvCxnSpPr>
        <p:spPr>
          <a:xfrm>
            <a:off x="7140575" y="3830955"/>
            <a:ext cx="948055" cy="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6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6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86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86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486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486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45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45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486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486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486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486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486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486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145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45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606" grpId="0"/>
      <p:bldP spid="1048606" grpId="1"/>
      <p:bldP spid="1048607" grpId="0"/>
      <p:bldP spid="1048607" grpId="1"/>
      <p:bldP spid="1048608" grpId="0"/>
      <p:bldP spid="1048609" grpId="0"/>
      <p:bldP spid="1048610" grpId="0"/>
      <p:bldP spid="1048608" grpId="1"/>
      <p:bldP spid="1048609" grpId="1"/>
      <p:bldP spid="1048610" grpId="1"/>
      <p:bldP spid="1048611" grpId="0"/>
      <p:bldP spid="1048611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" name=""/>
        <p:cNvGrpSpPr/>
        <p:nvPr/>
      </p:nvGrpSpPr>
      <p:grpSpPr/>
      <p:sp>
        <p:nvSpPr>
          <p:cNvPr id="1048612" name="文本框 1"/>
          <p:cNvSpPr txBox="1"/>
          <p:nvPr/>
        </p:nvSpPr>
        <p:spPr>
          <a:xfrm>
            <a:off x="581025" y="501650"/>
            <a:ext cx="31038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Conclusion</a:t>
            </a:r>
            <a:endParaRPr lang="en-US" altLang="zh-CN" sz="4000"/>
          </a:p>
        </p:txBody>
      </p:sp>
      <p:sp>
        <p:nvSpPr>
          <p:cNvPr id="1048613" name="文本框 2"/>
          <p:cNvSpPr txBox="1"/>
          <p:nvPr/>
        </p:nvSpPr>
        <p:spPr>
          <a:xfrm>
            <a:off x="581025" y="1413510"/>
            <a:ext cx="10826115" cy="2987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- We can guess where a person comes from by the dialect he or she speaks.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- The way we speak in daily life reflects the history and features of our country.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- The dialect represents your roots and connects you with your ancestors.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" name=""/>
        <p:cNvGrpSpPr/>
        <p:nvPr/>
      </p:nvGrpSpPr>
      <p:grpSpPr/>
      <p:sp>
        <p:nvSpPr>
          <p:cNvPr id="1048614" name="文本框 1"/>
          <p:cNvSpPr txBox="1"/>
          <p:nvPr/>
        </p:nvSpPr>
        <p:spPr>
          <a:xfrm>
            <a:off x="805180" y="1476375"/>
            <a:ext cx="10582275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1. Used Codex to find the reason why the northern and southern dialects are different.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2. Used Codex to find error in PPT and the spoken sheet.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3. Used Codex to make my language more native.</a:t>
            </a:r>
            <a:endParaRPr lang="en-US" altLang="zh-CN" sz="3200"/>
          </a:p>
        </p:txBody>
      </p:sp>
      <p:sp>
        <p:nvSpPr>
          <p:cNvPr id="1048615" name="文本框 3"/>
          <p:cNvSpPr txBox="1"/>
          <p:nvPr/>
        </p:nvSpPr>
        <p:spPr>
          <a:xfrm>
            <a:off x="581025" y="501650"/>
            <a:ext cx="31038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Reference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" name=""/>
        <p:cNvGrpSpPr/>
        <p:nvPr/>
      </p:nvGrpSpPr>
      <p:grpSpPr/>
      <p:sp>
        <p:nvSpPr>
          <p:cNvPr id="1048616" name="文本框 1"/>
          <p:cNvSpPr txBox="1"/>
          <p:nvPr/>
        </p:nvSpPr>
        <p:spPr>
          <a:xfrm>
            <a:off x="3049905" y="2879725"/>
            <a:ext cx="60928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Thank you for listening!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TABLE_ENDDRAG_ORIGIN_RECT" val="880*507"/>
  <p:tag name="TABLE_ENDDRAG_RECT" val="31*21*880*507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1323</Words>
  <Application>WPS 演示</Application>
  <PresentationFormat/>
  <Paragraphs>89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Arial</vt:lpstr>
      <vt:lpstr>宋体</vt:lpstr>
      <vt:lpstr>Wingdings</vt:lpstr>
      <vt:lpstr>Wingdings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HEY4-W09</dc:creator>
  <cp:lastModifiedBy>优优</cp:lastModifiedBy>
  <cp:revision>3</cp:revision>
  <dcterms:created xsi:type="dcterms:W3CDTF">2026-10-20T12:42:00Z</dcterms:created>
  <dcterms:modified xsi:type="dcterms:W3CDTF">2026-10-23T01:47:21Z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F4F77F65B76E4CB6934C1B5010E8637D_13</vt:lpwstr>
  </property>
</Properties>
</file>