
<file path=[Content_Types].xml><?xml version="1.0" encoding="utf-8"?>
<Types xmlns="http://schemas.openxmlformats.org/package/2006/content-types">
  <Default Extension="wav" ContentType="audio/x-wav"/>
  <Default Extension="png" ContentType="image/png"/>
  <Default Extension="mp3" ContentType="audio/mp3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4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21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9" Type="http://schemas.microsoft.com/office/2007/relationships/media" Target="../media/audio3.wav"/><Relationship Id="rId8" Type="http://schemas.openxmlformats.org/officeDocument/2006/relationships/audio" Target="../media/audio3.wav"/><Relationship Id="rId7" Type="http://schemas.microsoft.com/office/2007/relationships/media" Target="../media/audio2.wav"/><Relationship Id="rId6" Type="http://schemas.openxmlformats.org/officeDocument/2006/relationships/audio" Target="../media/audio2.wav"/><Relationship Id="rId5" Type="http://schemas.microsoft.com/office/2007/relationships/media" Target="../media/media1.mp3"/><Relationship Id="rId4" Type="http://schemas.openxmlformats.org/officeDocument/2006/relationships/audio" Target="../media/media1.mp3"/><Relationship Id="rId3" Type="http://schemas.openxmlformats.org/officeDocument/2006/relationships/image" Target="../media/image1.png"/><Relationship Id="rId2" Type="http://schemas.microsoft.com/office/2007/relationships/media" Target="../media/audio1.wav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64.xml"/><Relationship Id="rId1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54735" y="1690370"/>
            <a:ext cx="10082530" cy="2251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Differences between 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Northern and Southern Dialects 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en-US" altLang="zh-CN" sz="54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and A Special Case</a:t>
            </a:r>
            <a:endParaRPr lang="en-US" altLang="zh-CN" sz="54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467215" y="4819650"/>
            <a:ext cx="1670050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</a:bodyPr>
          <a:p>
            <a:r>
              <a:rPr lang="zh-CN" altLang="en-US" sz="320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刘亦优</a:t>
            </a:r>
            <a:endParaRPr lang="zh-CN" altLang="en-US" sz="320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229360" y="2214245"/>
            <a:ext cx="10585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粤语</a:t>
            </a:r>
            <a:endParaRPr lang="zh-CN" altLang="en-US" sz="3200"/>
          </a:p>
        </p:txBody>
      </p:sp>
      <p:sp>
        <p:nvSpPr>
          <p:cNvPr id="4" name="文本框 3"/>
          <p:cNvSpPr txBox="1"/>
          <p:nvPr/>
        </p:nvSpPr>
        <p:spPr>
          <a:xfrm>
            <a:off x="3741420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南京话</a:t>
            </a:r>
            <a:endParaRPr lang="zh-CN" altLang="en-US" sz="3200"/>
          </a:p>
        </p:txBody>
      </p:sp>
      <p:sp>
        <p:nvSpPr>
          <p:cNvPr id="6" name="文本框 5"/>
          <p:cNvSpPr txBox="1"/>
          <p:nvPr/>
        </p:nvSpPr>
        <p:spPr>
          <a:xfrm>
            <a:off x="6626225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闽南语</a:t>
            </a:r>
            <a:endParaRPr lang="zh-CN" altLang="en-US" sz="3200"/>
          </a:p>
        </p:txBody>
      </p:sp>
      <p:sp>
        <p:nvSpPr>
          <p:cNvPr id="8" name="文本框 7"/>
          <p:cNvSpPr txBox="1"/>
          <p:nvPr/>
        </p:nvSpPr>
        <p:spPr>
          <a:xfrm>
            <a:off x="9511030" y="2214245"/>
            <a:ext cx="14312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四川话</a:t>
            </a:r>
            <a:endParaRPr lang="zh-CN" altLang="en-US" sz="3200"/>
          </a:p>
        </p:txBody>
      </p:sp>
      <p:pic>
        <p:nvPicPr>
          <p:cNvPr id="9" name="四川话">
            <a:hlinkClick r:id="" action="ppaction://media"/>
          </p:cNvPr>
          <p:cNvPicPr/>
          <p:nvPr>
            <a:audi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0020300" y="2988310"/>
            <a:ext cx="412750" cy="412750"/>
          </a:xfrm>
          <a:prstGeom prst="rect">
            <a:avLst/>
          </a:prstGeom>
        </p:spPr>
      </p:pic>
      <p:cxnSp>
        <p:nvCxnSpPr>
          <p:cNvPr id="12" name="直接箭头连接符 11"/>
          <p:cNvCxnSpPr>
            <a:stCxn id="8" idx="0"/>
            <a:endCxn id="13" idx="2"/>
          </p:cNvCxnSpPr>
          <p:nvPr/>
        </p:nvCxnSpPr>
        <p:spPr>
          <a:xfrm flipH="1" flipV="1">
            <a:off x="8943340" y="1336675"/>
            <a:ext cx="1283335" cy="87757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096000" y="753110"/>
            <a:ext cx="5694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Northern or southern dialect?</a:t>
            </a:r>
            <a:endParaRPr lang="en-US" altLang="zh-CN" sz="3200"/>
          </a:p>
        </p:txBody>
      </p:sp>
      <p:sp>
        <p:nvSpPr>
          <p:cNvPr id="16" name="文本框 15"/>
          <p:cNvSpPr txBox="1"/>
          <p:nvPr/>
        </p:nvSpPr>
        <p:spPr>
          <a:xfrm>
            <a:off x="2388235" y="4152900"/>
            <a:ext cx="763206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600"/>
              <a:t>The biggest difference: </a:t>
            </a:r>
            <a:endParaRPr lang="en-US" altLang="zh-CN" sz="3600"/>
          </a:p>
          <a:p>
            <a:pPr algn="ctr"/>
            <a:r>
              <a:rPr lang="en-US" altLang="zh-CN" sz="3600"/>
              <a:t>How easily we can understand them.</a:t>
            </a:r>
            <a:endParaRPr lang="en-US" altLang="zh-CN" sz="3600"/>
          </a:p>
        </p:txBody>
      </p:sp>
      <p:pic>
        <p:nvPicPr>
          <p:cNvPr id="18" name="粤语">
            <a:hlinkClick r:id="" action="ppaction://media"/>
          </p:cNvPr>
          <p:cNvPicPr/>
          <p:nvPr>
            <a:audi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551940" y="2988310"/>
            <a:ext cx="412750" cy="412750"/>
          </a:xfrm>
          <a:prstGeom prst="rect">
            <a:avLst/>
          </a:prstGeom>
        </p:spPr>
      </p:pic>
      <p:pic>
        <p:nvPicPr>
          <p:cNvPr id="19" name="南京话">
            <a:hlinkClick r:id="" action="ppaction://media"/>
          </p:cNvPr>
          <p:cNvPicPr/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250690" y="2988310"/>
            <a:ext cx="412750" cy="412750"/>
          </a:xfrm>
          <a:prstGeom prst="rect">
            <a:avLst/>
          </a:prstGeom>
        </p:spPr>
      </p:pic>
      <p:pic>
        <p:nvPicPr>
          <p:cNvPr id="20" name="闽南语">
            <a:hlinkClick r:id="" action="ppaction://media"/>
          </p:cNvPr>
          <p:cNvPicPr/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135495" y="2988310"/>
            <a:ext cx="412750" cy="412750"/>
          </a:xfrm>
          <a:prstGeom prst="rect">
            <a:avLst/>
          </a:prstGeom>
        </p:spPr>
      </p:pic>
    </p:spTree>
    <p:custDataLst>
      <p:tags r:id="rId10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>
                <p:cTn id="19" fill="hold" display="1">
                  <p:stCondLst>
                    <p:cond delay="indefinite"/>
                  </p:stCondLst>
                  <p:endCondLst>
                    <p:cond evt="onStopAudio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  <p:audio>
              <p:cMediaNode>
                <p:cTn id="20" fill="hold" display="1">
                  <p:stCondLst>
                    <p:cond delay="indefinite"/>
                  </p:stCondLst>
                  <p:endCondLst>
                    <p:cond evt="onStopAudio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  <p:audio>
              <p:cMediaNode>
                <p:cTn id="21" fill="hold" display="1">
                  <p:stCondLst>
                    <p:cond delay="indefinite"/>
                  </p:stCondLst>
                  <p:endCondLst>
                    <p:cond evt="onStopAudio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>
                <p:cTn id="22" fill="hold" display="1">
                  <p:stCondLst>
                    <p:cond delay="indefinite"/>
                  </p:stCondLst>
                  <p:endCondLst>
                    <p:cond evt="onStopAudio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 additive="base">
                                        <p:cTn id="27" dur="indefinite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 additive="base">
                                        <p:cTn id="32" dur="indefinite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 additive="base">
                                        <p:cTn id="37" dur="indefinite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 additive="base">
                                        <p:cTn id="42" dur="indefinite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6" grpId="0"/>
      <p:bldP spid="16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730885" y="3075940"/>
            <a:ext cx="22066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000"/>
              <a:t>Outline</a:t>
            </a:r>
            <a:endParaRPr lang="en-US" altLang="zh-CN" sz="4000"/>
          </a:p>
        </p:txBody>
      </p:sp>
      <p:sp>
        <p:nvSpPr>
          <p:cNvPr id="3" name="文本框 2"/>
          <p:cNvSpPr txBox="1"/>
          <p:nvPr/>
        </p:nvSpPr>
        <p:spPr>
          <a:xfrm>
            <a:off x="3524250" y="1659890"/>
            <a:ext cx="7844790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How to distinguish between northern and southern dialects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Why they’re different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Why the southwestern dialect belongs to the northern dialect group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727835" y="2352675"/>
            <a:ext cx="870648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An obvious difference:</a:t>
            </a:r>
            <a:endParaRPr lang="en-US" altLang="zh-CN" sz="3200"/>
          </a:p>
          <a:p>
            <a:pPr algn="ctr"/>
            <a:r>
              <a:rPr lang="en-US" altLang="zh-CN" sz="3200"/>
              <a:t>Whether we can understand the speaker easily</a:t>
            </a:r>
            <a:endParaRPr lang="en-US" altLang="zh-CN" sz="3200"/>
          </a:p>
        </p:txBody>
      </p:sp>
      <p:sp>
        <p:nvSpPr>
          <p:cNvPr id="3" name="文本框 2"/>
          <p:cNvSpPr txBox="1"/>
          <p:nvPr/>
        </p:nvSpPr>
        <p:spPr>
          <a:xfrm>
            <a:off x="4064000" y="3694430"/>
            <a:ext cx="40640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>
                <a:solidFill>
                  <a:srgbClr val="FF0000"/>
                </a:solidFill>
              </a:rPr>
              <a:t>But why?</a:t>
            </a:r>
            <a:endParaRPr lang="en-US" altLang="zh-CN" sz="40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811905" y="4666615"/>
            <a:ext cx="45681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Difference in geography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6" grpId="0"/>
      <p:bldP spid="6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436245" y="319405"/>
          <a:ext cx="11185525" cy="5392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2130"/>
                <a:gridCol w="5573395"/>
              </a:tblGrid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40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Northern Area</a:t>
                      </a:r>
                      <a:endParaRPr lang="en-US" altLang="zh-CN" sz="40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40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Southern Area</a:t>
                      </a:r>
                      <a:endParaRPr lang="en-US" altLang="zh-CN" sz="40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live on the plains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many hills and mountains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travel between cities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remain in their local areas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  <a:tr h="1348105"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latin typeface="Arial" panose="020B0604020202020204" pitchFamily="34" charset="0"/>
                          <a:ea typeface="微软雅黑" panose="020B0503020204020204" charset="-122"/>
                        </a:rPr>
                        <a:t>need a common language</a:t>
                      </a:r>
                      <a:endParaRPr lang="en-US" altLang="zh-CN" sz="3200">
                        <a:latin typeface="Arial" panose="020B0604020202020204" pitchFamily="34" charset="0"/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  <a:tc>
                  <a:txBody>
                    <a:bodyPr/>
                    <a:p>
                      <a:pPr algn="ctr">
                        <a:lnSpc>
                          <a:spcPct val="120000"/>
                        </a:lnSpc>
                        <a:buNone/>
                      </a:pPr>
                      <a:r>
                        <a:rPr lang="en-US" altLang="zh-CN" sz="3200">
                          <a:ea typeface="微软雅黑" panose="020B0503020204020204" charset="-122"/>
                        </a:rPr>
                        <a:t>communicate with only a small number of people</a:t>
                      </a:r>
                      <a:endParaRPr lang="en-US" altLang="zh-CN" sz="3200">
                        <a:ea typeface="微软雅黑" panose="020B0503020204020204" charset="-122"/>
                      </a:endParaRPr>
                    </a:p>
                  </a:txBody>
                  <a:tcPr marL="317500" marR="317500" marT="215900" marB="215900" anchor="ctr"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600835" y="28454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What are you doing?!</a:t>
            </a:r>
            <a:endParaRPr lang="en-US" altLang="zh-CN" sz="3200"/>
          </a:p>
        </p:txBody>
      </p:sp>
      <p:sp>
        <p:nvSpPr>
          <p:cNvPr id="4" name="文本框 3"/>
          <p:cNvSpPr txBox="1"/>
          <p:nvPr/>
        </p:nvSpPr>
        <p:spPr>
          <a:xfrm>
            <a:off x="6871970" y="2845435"/>
            <a:ext cx="406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Have you eaten?</a:t>
            </a:r>
            <a:endParaRPr lang="en-US" altLang="zh-CN" sz="3200"/>
          </a:p>
        </p:txBody>
      </p:sp>
      <p:sp>
        <p:nvSpPr>
          <p:cNvPr id="5" name="文本框 4"/>
          <p:cNvSpPr txBox="1"/>
          <p:nvPr/>
        </p:nvSpPr>
        <p:spPr>
          <a:xfrm>
            <a:off x="581025" y="501650"/>
            <a:ext cx="406463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A special case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4" grpId="0"/>
      <p:bldP spid="4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414780" y="521970"/>
            <a:ext cx="936244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3200"/>
              <a:t>Why is a dialect spoken in southern China actually classified as a northern dialect?</a:t>
            </a:r>
            <a:endParaRPr lang="en-US" altLang="zh-CN" sz="3200"/>
          </a:p>
        </p:txBody>
      </p:sp>
      <p:sp>
        <p:nvSpPr>
          <p:cNvPr id="3" name="文本框 2"/>
          <p:cNvSpPr txBox="1"/>
          <p:nvPr/>
        </p:nvSpPr>
        <p:spPr>
          <a:xfrm>
            <a:off x="4756150" y="2153920"/>
            <a:ext cx="267970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>
                <a:solidFill>
                  <a:srgbClr val="FF0000"/>
                </a:solidFill>
              </a:rPr>
              <a:t>migration</a:t>
            </a:r>
            <a:endParaRPr lang="en-US" altLang="zh-CN" sz="4000">
              <a:solidFill>
                <a:srgbClr val="FF0000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3025" y="3415665"/>
            <a:ext cx="25273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Migrants from northern China</a:t>
            </a:r>
            <a:endParaRPr lang="en-US" altLang="zh-CN" sz="2400"/>
          </a:p>
        </p:txBody>
      </p:sp>
      <p:sp>
        <p:nvSpPr>
          <p:cNvPr id="5" name="文本框 4"/>
          <p:cNvSpPr txBox="1"/>
          <p:nvPr/>
        </p:nvSpPr>
        <p:spPr>
          <a:xfrm>
            <a:off x="4342765" y="3415665"/>
            <a:ext cx="279781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Southwestern</a:t>
            </a:r>
            <a:endParaRPr lang="en-US" altLang="zh-CN" sz="2400"/>
          </a:p>
          <a:p>
            <a:pPr algn="ctr"/>
            <a:r>
              <a:rPr lang="en-US" altLang="zh-CN" sz="2400"/>
              <a:t>China</a:t>
            </a:r>
            <a:endParaRPr lang="en-US" altLang="zh-CN" sz="2400"/>
          </a:p>
        </p:txBody>
      </p:sp>
      <p:cxnSp>
        <p:nvCxnSpPr>
          <p:cNvPr id="6" name="直接箭头连接符 5"/>
          <p:cNvCxnSpPr>
            <a:stCxn id="4" idx="3"/>
            <a:endCxn id="5" idx="1"/>
          </p:cNvCxnSpPr>
          <p:nvPr/>
        </p:nvCxnSpPr>
        <p:spPr>
          <a:xfrm>
            <a:off x="2600325" y="3830955"/>
            <a:ext cx="1742440" cy="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2807970" y="3261360"/>
            <a:ext cx="13277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Move to</a:t>
            </a:r>
            <a:endParaRPr lang="en-US" altLang="zh-CN" sz="2400"/>
          </a:p>
        </p:txBody>
      </p:sp>
      <p:sp>
        <p:nvSpPr>
          <p:cNvPr id="8" name="文本框 7"/>
          <p:cNvSpPr txBox="1"/>
          <p:nvPr/>
        </p:nvSpPr>
        <p:spPr>
          <a:xfrm>
            <a:off x="2226945" y="4245610"/>
            <a:ext cx="248856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With techniques and tools</a:t>
            </a:r>
            <a:endParaRPr lang="en-US" altLang="zh-CN" sz="2400"/>
          </a:p>
        </p:txBody>
      </p:sp>
      <p:sp>
        <p:nvSpPr>
          <p:cNvPr id="9" name="文本框 8"/>
          <p:cNvSpPr txBox="1"/>
          <p:nvPr/>
        </p:nvSpPr>
        <p:spPr>
          <a:xfrm>
            <a:off x="8088630" y="3415665"/>
            <a:ext cx="37896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2400"/>
              <a:t>Influence government, trade and daily life</a:t>
            </a:r>
            <a:endParaRPr lang="en-US" altLang="zh-CN" sz="2400"/>
          </a:p>
        </p:txBody>
      </p:sp>
      <p:cxnSp>
        <p:nvCxnSpPr>
          <p:cNvPr id="10" name="直接箭头连接符 9"/>
          <p:cNvCxnSpPr>
            <a:stCxn id="5" idx="3"/>
            <a:endCxn id="9" idx="1"/>
          </p:cNvCxnSpPr>
          <p:nvPr/>
        </p:nvCxnSpPr>
        <p:spPr>
          <a:xfrm>
            <a:off x="7140575" y="3830955"/>
            <a:ext cx="948055" cy="0"/>
          </a:xfrm>
          <a:prstGeom prst="straightConnector1">
            <a:avLst/>
          </a:prstGeom>
          <a:ln w="31750" cap="rnd">
            <a:solidFill>
              <a:srgbClr val="FF0000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  <p:bldP spid="7" grpId="0"/>
      <p:bldP spid="8" grpId="0"/>
      <p:bldP spid="5" grpId="1"/>
      <p:bldP spid="7" grpId="1"/>
      <p:bldP spid="8" grpId="1"/>
      <p:bldP spid="9" grpId="0"/>
      <p:bldP spid="9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581025" y="501650"/>
            <a:ext cx="310388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Conclusion</a:t>
            </a:r>
            <a:endParaRPr lang="en-US" altLang="zh-CN" sz="4000"/>
          </a:p>
        </p:txBody>
      </p:sp>
      <p:sp>
        <p:nvSpPr>
          <p:cNvPr id="3" name="文本框 2"/>
          <p:cNvSpPr txBox="1"/>
          <p:nvPr/>
        </p:nvSpPr>
        <p:spPr>
          <a:xfrm>
            <a:off x="581025" y="1413510"/>
            <a:ext cx="10826115" cy="40309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- We can guess where a person comes from by the dialect he or she speaks.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- The way we speak in daily life reflects the history and features of our country.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- The dialect represents your roots and connects you with your ancestors.</a:t>
            </a:r>
            <a:endParaRPr lang="en-US" altLang="zh-CN" sz="3200"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805180" y="1476375"/>
            <a:ext cx="10582275" cy="40309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/>
              <a:t>1. Used Codex to find the reason why the northern and southern dialects are different.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2. Used Codex to find error in PPT and the spoken sheet.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3. Used Codex to make my language more native.</a:t>
            </a:r>
            <a:endParaRPr lang="en-US" altLang="zh-CN" sz="3200"/>
          </a:p>
          <a:p>
            <a:endParaRPr lang="en-US" altLang="zh-CN" sz="3200"/>
          </a:p>
          <a:p>
            <a:r>
              <a:rPr lang="en-US" altLang="zh-CN" sz="3200"/>
              <a:t>4. Use AI to generate the audio.</a:t>
            </a:r>
            <a:endParaRPr lang="en-US" altLang="zh-CN" sz="3200"/>
          </a:p>
        </p:txBody>
      </p:sp>
      <p:sp>
        <p:nvSpPr>
          <p:cNvPr id="4" name="文本框 3"/>
          <p:cNvSpPr txBox="1"/>
          <p:nvPr/>
        </p:nvSpPr>
        <p:spPr>
          <a:xfrm>
            <a:off x="581025" y="501650"/>
            <a:ext cx="310388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Reference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049905" y="2879725"/>
            <a:ext cx="60928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/>
              <a:t>Thank you for listening!</a:t>
            </a:r>
            <a:endParaRPr lang="en-US" altLang="zh-CN" sz="400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TABLE_ENDDRAG_ORIGIN_RECT" val="880*507"/>
  <p:tag name="TABLE_ENDDRAG_RECT" val="31*21*880*507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1354</Words>
  <Application>WPS 演示</Application>
  <PresentationFormat>宽屏</PresentationFormat>
  <Paragraphs>91</Paragraphs>
  <Slides>10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优优</cp:lastModifiedBy>
  <cp:revision>173</cp:revision>
  <dcterms:created xsi:type="dcterms:W3CDTF">2019-06-19T02:08:00Z</dcterms:created>
  <dcterms:modified xsi:type="dcterms:W3CDTF">2026-10-18T10:50:00Z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F4F77F65B76E4CB6934C1B5010E8637D_13</vt:lpwstr>
  </property>
</Properties>
</file>